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Évaluation des performances &amp; benchmarking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Projet ML — gestion de projet (sections 5 et 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— Évaluation des performances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Choix des métriques adaptées (accuracy, F1-score, RMSE, etc.).</a:t>
            </a:r>
          </a:p>
          <a:p>
            <a:pPr>
              <a:defRPr sz="1800"/>
            </a:pPr>
            <a:r>
              <a:t>Présentation des résultats sous forme de tableaux ou graphiques (matrice de confusion, courbes ROC, etc.).</a:t>
            </a:r>
          </a:p>
          <a:p>
            <a:pPr>
              <a:defRPr sz="1800"/>
            </a:pPr>
            <a:r>
              <a:t>Interprétation des résultats obtenus (obligatoire).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Choix des métriques —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Accuracy : part de prédictions correctes (simple, mais trompeuse si classes déséquilibrées).</a:t>
            </a:r>
          </a:p>
          <a:p>
            <a:pPr>
              <a:defRPr sz="1800"/>
            </a:pPr>
            <a:r>
              <a:t>Précision / Rappel / F1 par classe : qualité des positifs prédits et taux de détection.</a:t>
            </a:r>
          </a:p>
          <a:p>
            <a:pPr>
              <a:defRPr sz="1800"/>
            </a:pPr>
            <a:r>
              <a:t>F1 macro : moyenne non pondérée sur les classes — utile pour l’équité entre Low / Medium / High.</a:t>
            </a:r>
          </a:p>
          <a:p>
            <a:pPr>
              <a:defRPr sz="1800"/>
            </a:pPr>
            <a:r>
              <a:t>F1 (ou précision/rappel) weighted : pondéré par l’effectif — proche de l’expérience « globale ».</a:t>
            </a:r>
          </a:p>
          <a:p>
            <a:pPr>
              <a:defRPr sz="1800"/>
            </a:pPr>
            <a:r>
              <a:t>Matrice de confusion : voir quelles classes sont confondues.</a:t>
            </a:r>
          </a:p>
          <a:p>
            <a:pPr>
              <a:defRPr sz="1800"/>
            </a:pPr>
            <a:r>
              <a:t>ROC + AUC (one-vs-rest) : capacité à séparer chaque classe des autres via scores de probabilité.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Choix des métriques — Régression (avancement)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R² : fraction de variance expliquée (comparaison relative des modèles).</a:t>
            </a:r>
          </a:p>
          <a:p>
            <a:pPr>
              <a:defRPr sz="1800"/>
            </a:pPr>
            <a:r>
              <a:t>RMSE : erreur quadratique moyenne en unité de la cible — sensible aux grands écarts.</a:t>
            </a:r>
          </a:p>
          <a:p>
            <a:pPr>
              <a:defRPr sz="1800"/>
            </a:pPr>
            <a:r>
              <a:t>MAE : erreur moyenne en valeur absolue — plus robuste aux outliers extrêmes que le RMSE.</a:t>
            </a:r>
          </a:p>
          <a:p>
            <a:pPr>
              <a:defRPr sz="1800"/>
            </a:pPr>
            <a:r>
              <a:t>MAPE : erreur relative moyenne (%) — utile pour communiquer, à manier avec prudence si y proche de 0.</a:t>
            </a:r>
          </a:p>
          <a:p>
            <a:pPr>
              <a:defRPr sz="1800"/>
            </a:pPr>
            <a:r>
              <a:t>Graphiques : y_test vs y_pred, résidus (histogramme, boxplot) pour détecter biais et hétéroscédasticité.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— Segmentation du risque (classification, test)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34440"/>
          <a:ext cx="11338560" cy="1417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354329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Précision (macro)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Rappel (macro)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F1 (macro)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AUC (OvR)</a:t>
                      </a:r>
                    </a:p>
                  </a:txBody>
                  <a:tcPr/>
                </a:tc>
              </a:tr>
              <a:tr h="35432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0,862</a:t>
                      </a:r>
                    </a:p>
                  </a:txBody>
                  <a:tcPr/>
                </a:tc>
              </a:tr>
              <a:tr h="35432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SVM (RBF)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0,598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0,866</a:t>
                      </a:r>
                    </a:p>
                  </a:txBody>
                  <a:tcPr/>
                </a:tc>
              </a:tr>
              <a:tr h="35433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0,786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26364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Weighted (aperçu) : SVM meilleur F1 weighted (~0,76) ; KNN ~0,75 ; arbre ~0,64.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Interprétation — Segmentation du risque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Le SVM obtient la meilleure accuracy (0,80) et une AUC légèrement supérieure : bonne séparation globale.</a:t>
            </a:r>
          </a:p>
          <a:p>
            <a:pPr>
              <a:defRPr sz="1800"/>
            </a:pPr>
            <a:r>
              <a:t>Le KNN affiche le meilleur F1 macro (~0,61) : meilleur compromis précision/rappel quand on traite les trois niveaux de risque avec le même poids.</a:t>
            </a:r>
          </a:p>
          <a:p>
            <a:pPr>
              <a:defRPr sz="1800"/>
            </a:pPr>
            <a:r>
              <a:t>L’arbre de décision est le plus faible sur ces métriques : plus de variance / sur-apprentissage possible malgré l’élagage.</a:t>
            </a:r>
          </a:p>
          <a:p>
            <a:pPr>
              <a:defRPr sz="1800"/>
            </a:pPr>
            <a:r>
              <a:t>L’écart accuracy vs F1 macro pour le SVM suggère un effet des classes : le modèle peut privilégier la classe majoritaire sur certaines erreurs.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du risque — Matrices de confusion et ROC (OvR)</a:t>
            </a:r>
          </a:p>
        </p:txBody>
      </p:sp>
      <p:pic>
        <p:nvPicPr>
          <p:cNvPr id="3" name="Picture 2" descr="confusion_matrices_knn_svm_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1188720"/>
            <a:ext cx="5638647" cy="5120640"/>
          </a:xfrm>
          <a:prstGeom prst="rect">
            <a:avLst/>
          </a:prstGeom>
        </p:spPr>
      </p:pic>
      <p:pic>
        <p:nvPicPr>
          <p:cNvPr id="4" name="Picture 3" descr="roc_ovr_knn_svm_d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567" y="1188720"/>
            <a:ext cx="563864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du risque — F1 par classe et courbes d’apprentissage</a:t>
            </a:r>
          </a:p>
        </p:txBody>
      </p:sp>
      <p:pic>
        <p:nvPicPr>
          <p:cNvPr id="3" name="Picture 2" descr="f1_par_classe_knn_svm_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1188720"/>
            <a:ext cx="5638647" cy="5120640"/>
          </a:xfrm>
          <a:prstGeom prst="rect">
            <a:avLst/>
          </a:prstGeom>
        </p:spPr>
      </p:pic>
      <p:pic>
        <p:nvPicPr>
          <p:cNvPr id="4" name="Picture 3" descr="learning_curves_knn_svm_d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567" y="1188720"/>
            <a:ext cx="563864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— Prédiction de l’avancement (régression, test)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34440"/>
          <a:ext cx="1133856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381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MAPE (%)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Régression linéaire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95,0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76,8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26364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Même split train/test (20 %, random_state=42) que les pipelines du dossier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Interprétation — Prédiction de l’avancement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 forêt aléatoire domine sur R², RMSE et MAE : elle capte des non-linéarités et des interactions entre variables opérationnelles.</a:t>
            </a:r>
          </a:p>
          <a:p>
            <a:pPr>
              <a:defRPr sz="1800"/>
            </a:pPr>
            <a:r>
              <a:t>La régression linéaire reste une baseline utile : rapide et interprétable, mais hypothèse de linéarité trop stricte ici.</a:t>
            </a:r>
          </a:p>
          <a:p>
            <a:pPr>
              <a:defRPr sz="1800"/>
            </a:pPr>
            <a:r>
              <a:t>Le MAPE élevé s’explique en partie par des valeurs d’avancement proches de 0 (erreurs relatives amplifiées).</a:t>
            </a:r>
          </a:p>
          <a:p>
            <a:pPr>
              <a:defRPr sz="1800"/>
            </a:pPr>
            <a:r>
              <a:t>Les graphiques de résidus permettent de vérifier l’absence de structure systématique résiduelle (surtout pour la baseline).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Avancement — Prédictions et résidus</a:t>
            </a:r>
          </a:p>
        </p:txBody>
      </p:sp>
      <p:pic>
        <p:nvPicPr>
          <p:cNvPr id="3" name="Picture 2" descr="scatter_ytest_vs_ypred_rf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1188720"/>
            <a:ext cx="5638647" cy="5120640"/>
          </a:xfrm>
          <a:prstGeom prst="rect">
            <a:avLst/>
          </a:prstGeom>
        </p:spPr>
      </p:pic>
      <p:pic>
        <p:nvPicPr>
          <p:cNvPr id="4" name="Picture 3" descr="residuals_hist_kde_rf_l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567" y="1188720"/>
            <a:ext cx="563864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Avancement — Boxplot des résidus et importances (RF)</a:t>
            </a:r>
          </a:p>
        </p:txBody>
      </p:sp>
      <p:pic>
        <p:nvPicPr>
          <p:cNvPr id="3" name="Picture 2" descr="residuals_boxplot_rf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1188720"/>
            <a:ext cx="5638647" cy="5120640"/>
          </a:xfrm>
          <a:prstGeom prst="rect">
            <a:avLst/>
          </a:prstGeom>
        </p:spPr>
      </p:pic>
      <p:pic>
        <p:nvPicPr>
          <p:cNvPr id="4" name="Picture 3" descr="rf_progress_top3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567" y="1188720"/>
            <a:ext cx="563864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Avancement — Résidus vs valeurs ajustées (régression linéaire)</a:t>
            </a:r>
          </a:p>
        </p:txBody>
      </p:sp>
      <p:pic>
        <p:nvPicPr>
          <p:cNvPr id="3" name="Picture 2" descr="residuals_vs_fitted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1188720"/>
            <a:ext cx="1141445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— Recommandation de priorité (classification, test)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34440"/>
          <a:ext cx="1133856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381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Précision (macro)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Rappel (macro)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F1 (macro)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AUC (OvR)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KNN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0,417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0,567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0,579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26364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Jeu de test n=60 ; classes déséquilibrées (High ≈ 52 % sur le test stratifié).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Interprétation — Recommandation de priorité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Le Random Forest maximise l’accuracy et le F1 sur la classe High : comportement attendu avec une classe majoritaire.</a:t>
            </a:r>
          </a:p>
          <a:p>
            <a:pPr>
              <a:defRPr sz="1800"/>
            </a:pPr>
            <a:r>
              <a:t>Le KNN a un F1 macro légèrement supérieur : meilleur rappel sur Low et Medium grâce à des frontières locales, au prix du rappel sur High.</a:t>
            </a:r>
          </a:p>
          <a:p>
            <a:pPr>
              <a:defRPr sz="1800"/>
            </a:pPr>
            <a:r>
              <a:t>KNN exige un StandardScaler ajusté sur le train uniquement — sans scaling, les distances seraient dominées par Budget / durée.</a:t>
            </a:r>
          </a:p>
          <a:p>
            <a:pPr>
              <a:defRPr sz="1800"/>
            </a:pPr>
            <a:r>
              <a:t>Pour la production, le RF est souvent préférable si la détection fiable des tâches très prioritaires et les probabilités (seuils) comptent ; améliorer les minoritaires via class_weight ou données supplémentaires.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Priorité — Matrices de confusion</a:t>
            </a:r>
          </a:p>
        </p:txBody>
      </p:sp>
      <p:pic>
        <p:nvPicPr>
          <p:cNvPr id="3" name="Picture 2" descr="eval_priority_confusion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1188720"/>
            <a:ext cx="5638647" cy="5120640"/>
          </a:xfrm>
          <a:prstGeom prst="rect">
            <a:avLst/>
          </a:prstGeom>
        </p:spPr>
      </p:pic>
      <p:pic>
        <p:nvPicPr>
          <p:cNvPr id="4" name="Picture 3" descr="eval_priority_confusion_k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567" y="1188720"/>
            <a:ext cx="563864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Priorité — F1 par classe et ROC (OvR)</a:t>
            </a:r>
          </a:p>
        </p:txBody>
      </p:sp>
      <p:pic>
        <p:nvPicPr>
          <p:cNvPr id="3" name="Picture 2" descr="eval_priority_f1_par_cla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1188720"/>
            <a:ext cx="5638647" cy="5120640"/>
          </a:xfrm>
          <a:prstGeom prst="rect">
            <a:avLst/>
          </a:prstGeom>
        </p:spPr>
      </p:pic>
      <p:pic>
        <p:nvPicPr>
          <p:cNvPr id="4" name="Picture 3" descr="eval_priority_roc_ov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567" y="1188720"/>
            <a:ext cx="563864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Priorité — Importance des variables (Random Forest)</a:t>
            </a:r>
          </a:p>
        </p:txBody>
      </p:sp>
      <p:pic>
        <p:nvPicPr>
          <p:cNvPr id="3" name="Picture 2" descr="eval_priority_rf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1188720"/>
            <a:ext cx="1141445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— Benchmarking des modèles (obligatoire)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Tableau comparatif des performances sur le jeu de test (métriques alignées avec les scripts d’évaluation).</a:t>
            </a:r>
          </a:p>
          <a:p>
            <a:pPr>
              <a:defRPr sz="1800"/>
            </a:pPr>
            <a:r>
              <a:t>Justification du modèle retenu pour le déploiement (par cas d’usage : risque, avancement, priorité).</a:t>
            </a:r>
          </a:p>
          <a:p>
            <a:pPr>
              <a:defRPr sz="1800"/>
            </a:pPr>
            <a:r>
              <a:t>Discussion sur les forces et les faiblesses de chaque approche algorithmique.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— Tableau comparatif des performances (synthèse)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34440"/>
          <a:ext cx="113385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32004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Cas d’usage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Modèles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Indicateur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Meilleur résultat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Modèle le plus performant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Segmentation du risque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KNN, SVM, 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Accuracy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SVM (RBF)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Segmentation du risque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KNN, SVM, 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F1 macro (équité classes)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0,613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KNN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Prédiction de l’avancement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Régression linéaire, 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R²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0,530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Prédiction de l’avancement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Régression linéaire, 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RMSE test (↓)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Recommandation de priorité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KNN, 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Accuracy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0,533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Recommandation de priorité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KNN, 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AUC ROC (macro OvR)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0,579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26364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Données : Project-Management-2-enriched (~300 lignes), split 80/20, random_state=42. Les métriques exactes figurent dans les diapos « Résultats » de la section 5.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— Justification du modèle retenu (déploiement)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Risque : déployer le SVM si l’objectif est l’accuracy globale et une bonne séparation (AUC) ; choisir le KNN si l’on priorise l’équité entre niveaux de risque (F1 macro). L’arbre reste pertinent pour l’interprétabilité (règles) et une latence très faible.</a:t>
            </a:r>
          </a:p>
          <a:p>
            <a:pPr>
              <a:defRPr sz="1800"/>
            </a:pPr>
            <a:r>
              <a:t>Avancement : Random Forest retenu — meilleur R², RMSE et MAE ; la régression linéaire sert de baseline interprétable mais sous-performante sur ce jeu.</a:t>
            </a:r>
          </a:p>
          <a:p>
            <a:pPr>
              <a:defRPr sz="1800"/>
            </a:pPr>
            <a:r>
              <a:t>Priorité : Random Forest retenu pour l’API principale — meilleure accuracy et AUC ; le KNN reste utile comme variante (F1 macro légèrement supérieur) et rappelle l’importance du StandardScaler.</a:t>
            </a:r>
          </a:p>
          <a:p>
            <a:pPr>
              <a:defRPr sz="1800"/>
            </a:pPr>
            <a:r>
              <a:t>Pistes d’amélioration : class_weight / rééquilibrage pour la priorité, validation croisée ou jeu de validation dédié pour éviter tout biais lié au réglage sur le test (notamment risque).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— Forces et faiblesses par approche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KNN — Forces : simple, bon F1 macro sur le risque, frontières locales. Faiblesses : sensible à la dimension et au bruit, coût de prédiction qui augmente avec n, nécessite un scaling rigoureux.</a:t>
            </a:r>
          </a:p>
          <a:p>
            <a:pPr>
              <a:defRPr sz="1800"/>
            </a:pPr>
            <a:r>
              <a:t>SVM (RBF) — Forces : bonnes performances globales sur le risque (accuracy, AUC). Faiblesses : coût d’entraînement plus élevé, sensibilité à C et γ, probabilités à interpréter avec prudence.</a:t>
            </a:r>
          </a:p>
          <a:p>
            <a:pPr>
              <a:defRPr sz="1800"/>
            </a:pPr>
            <a:r>
              <a:t>Arbre de décision — Forces : modèle explicable, prédiction rapide. Faiblesses : variance élevée, scores plus faibles ici malgré élagage (ccp_alpha).</a:t>
            </a:r>
          </a:p>
          <a:p>
            <a:pPr>
              <a:defRPr sz="1800"/>
            </a:pPr>
            <a:r>
              <a:t>Random Forest — Forces : robuste, capture interactions et non-linéarités (avancement, priorité), importances de variables. Faiblesses : moins lisible qu’un arbre unique, risque de biais vers la classe majoritaire (priorité).</a:t>
            </a:r>
          </a:p>
          <a:p>
            <a:pPr>
              <a:defRPr sz="1800"/>
            </a:pPr>
            <a:r>
              <a:t>Régression linéaire — Forces : très rapide, coefficients interprétables après mise à l’échelle. Faiblesses : hypothèse de linéarité limitante pour Progress.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(sections 5 et 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Section 5 : métriques choisies, tableaux et graphiques (confusion, ROC, résidus) + interprétation obligatoire par cas d’usage.</a:t>
            </a:r>
          </a:p>
          <a:p>
            <a:pPr>
              <a:defRPr sz="1800"/>
            </a:pPr>
            <a:r>
              <a:t>Section 6 : benchmarking transverse, choix de déploiement argumenté, forces/faiblesses par famille d’algorithmes.</a:t>
            </a:r>
          </a:p>
          <a:p>
            <a:pPr>
              <a:defRPr sz="1800"/>
            </a:pPr>
            <a:r>
              <a:t>Rappel : lire accuracy avec prudence si classes déséquilibrées ; croiser avec F1 macro, matrices de confusion et courbes ROC.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